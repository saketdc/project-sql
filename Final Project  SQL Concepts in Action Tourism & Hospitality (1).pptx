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Poppins Semi-Bold" charset="1" panose="00000700000000000000"/>
      <p:regular r:id="rId40"/>
    </p:embeddedFont>
    <p:embeddedFont>
      <p:font typeface="Poppins Bold" charset="1" panose="00000800000000000000"/>
      <p:regular r:id="rId41"/>
    </p:embeddedFont>
    <p:embeddedFont>
      <p:font typeface="Montserrat" charset="1" panose="00000500000000000000"/>
      <p:regular r:id="rId42"/>
    </p:embeddedFont>
    <p:embeddedFont>
      <p:font typeface="TT Interphases Bold" charset="1" panose="02000803060000020004"/>
      <p:regular r:id="rId43"/>
    </p:embeddedFont>
    <p:embeddedFont>
      <p:font typeface="TT Interphases" charset="1" panose="02000503020000020004"/>
      <p:regular r:id="rId44"/>
    </p:embeddedFont>
    <p:embeddedFont>
      <p:font typeface="IBM Plex Mono" charset="1" panose="020B0509050203000203"/>
      <p:regular r:id="rId45"/>
    </p:embeddedFont>
    <p:embeddedFont>
      <p:font typeface="Playfair Display" charset="1" panose="00000000000000000000"/>
      <p:regular r:id="rId46"/>
    </p:embeddedFont>
    <p:embeddedFont>
      <p:font typeface="Inter Bold" charset="1" panose="020B0802030000000004"/>
      <p:regular r:id="rId47"/>
    </p:embeddedFont>
    <p:embeddedFont>
      <p:font typeface="Inter" charset="1" panose="020B0502030000000004"/>
      <p:regular r:id="rId48"/>
    </p:embeddedFont>
    <p:embeddedFont>
      <p:font typeface="Poppins" charset="1" panose="00000500000000000000"/>
      <p:regular r:id="rId49"/>
    </p:embeddedFont>
    <p:embeddedFont>
      <p:font typeface="JetBrains Mono" charset="1" panose="02010509020102050004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61419" y="2725120"/>
            <a:ext cx="13797470" cy="4836759"/>
            <a:chOff x="0" y="0"/>
            <a:chExt cx="3633902" cy="12738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33901" cy="1273879"/>
            </a:xfrm>
            <a:custGeom>
              <a:avLst/>
              <a:gdLst/>
              <a:ahLst/>
              <a:cxnLst/>
              <a:rect r="r" b="b" t="t" l="l"/>
              <a:pathLst>
                <a:path h="1273879" w="3633901">
                  <a:moveTo>
                    <a:pt x="0" y="0"/>
                  </a:moveTo>
                  <a:lnTo>
                    <a:pt x="3633901" y="0"/>
                  </a:lnTo>
                  <a:lnTo>
                    <a:pt x="3633901" y="1273879"/>
                  </a:lnTo>
                  <a:lnTo>
                    <a:pt x="0" y="1273879"/>
                  </a:lnTo>
                  <a:close/>
                </a:path>
              </a:pathLst>
            </a:custGeom>
            <a:solidFill>
              <a:srgbClr val="B2EBF2">
                <a:alpha val="3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633902" cy="1331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3208" y="1243051"/>
            <a:ext cx="14316354" cy="6056949"/>
            <a:chOff x="0" y="0"/>
            <a:chExt cx="3770562" cy="15952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0562" cy="1595246"/>
            </a:xfrm>
            <a:custGeom>
              <a:avLst/>
              <a:gdLst/>
              <a:ahLst/>
              <a:cxnLst/>
              <a:rect r="r" b="b" t="t" l="l"/>
              <a:pathLst>
                <a:path h="1595246" w="3770562">
                  <a:moveTo>
                    <a:pt x="0" y="0"/>
                  </a:moveTo>
                  <a:lnTo>
                    <a:pt x="3770562" y="0"/>
                  </a:lnTo>
                  <a:lnTo>
                    <a:pt x="3770562" y="1595246"/>
                  </a:lnTo>
                  <a:lnTo>
                    <a:pt x="0" y="15952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770562" cy="1652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31084" y="3142615"/>
            <a:ext cx="12420600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0D737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Tourism &amp; Hospitality </a:t>
            </a:r>
            <a:r>
              <a:rPr lang="en-US" b="true" sz="5600" strike="noStrike" u="none">
                <a:solidFill>
                  <a:srgbClr val="0D737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</a:t>
            </a:r>
            <a:r>
              <a:rPr lang="en-US" b="true" sz="5600" strike="noStrike" u="none">
                <a:solidFill>
                  <a:srgbClr val="0D737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Analysis </a:t>
            </a:r>
            <a:r>
              <a:rPr lang="en-US" b="true" sz="5600" strike="noStrike" u="none">
                <a:solidFill>
                  <a:srgbClr val="0D737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Using 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51322" y="3571601"/>
            <a:ext cx="4454392" cy="3855074"/>
          </a:xfrm>
          <a:custGeom>
            <a:avLst/>
            <a:gdLst/>
            <a:ahLst/>
            <a:cxnLst/>
            <a:rect r="r" b="b" t="t" l="l"/>
            <a:pathLst>
              <a:path h="3855074" w="4454392">
                <a:moveTo>
                  <a:pt x="0" y="0"/>
                </a:moveTo>
                <a:lnTo>
                  <a:pt x="4454392" y="0"/>
                </a:lnTo>
                <a:lnTo>
                  <a:pt x="4454392" y="3855074"/>
                </a:lnTo>
                <a:lnTo>
                  <a:pt x="0" y="3855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10983" y="2592680"/>
            <a:ext cx="6716603" cy="5812915"/>
          </a:xfrm>
          <a:custGeom>
            <a:avLst/>
            <a:gdLst/>
            <a:ahLst/>
            <a:cxnLst/>
            <a:rect r="r" b="b" t="t" l="l"/>
            <a:pathLst>
              <a:path h="5812915" w="6716603">
                <a:moveTo>
                  <a:pt x="0" y="0"/>
                </a:moveTo>
                <a:lnTo>
                  <a:pt x="6716603" y="0"/>
                </a:lnTo>
                <a:lnTo>
                  <a:pt x="6716603" y="5812915"/>
                </a:lnTo>
                <a:lnTo>
                  <a:pt x="0" y="58129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223437" y="3121358"/>
            <a:ext cx="5491694" cy="4755559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7"/>
              <a:stretch>
                <a:fillRect l="-55" t="0" r="-5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4000" y="542925"/>
            <a:ext cx="152400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7"/>
              </a:lnSpc>
              <a:spcBef>
                <a:spcPct val="0"/>
              </a:spcBef>
            </a:pPr>
            <a:r>
              <a:rPr lang="en-US" b="true" sz="3622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4550" y="4356523"/>
            <a:ext cx="6905625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Record_ID · Country · City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Number_of_Tourists · Tourism_Revenue_USD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Avg_Satisfaction_Score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4550" y="7096125"/>
            <a:ext cx="6905625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Record_ID · Hotel_Name · City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Rooms_Available · Avg_Room_Price_USD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Occupancy_Rate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4550" y="3781213"/>
            <a:ext cx="357187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tourism_stats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4550" y="6667500"/>
            <a:ext cx="357187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hospitality_stats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4000" y="542925"/>
            <a:ext cx="15240000" cy="57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7"/>
              </a:lnSpc>
              <a:spcBef>
                <a:spcPct val="0"/>
              </a:spcBef>
            </a:pPr>
            <a:r>
              <a:rPr lang="en-US" b="true" sz="3622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Import CSV to SQL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264" y="1081402"/>
            <a:ext cx="1408176" cy="39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Definition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264" y="1563830"/>
            <a:ext cx="14246352" cy="55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Load data from a CSV file into a SQL table in five simple steps: prepare the CSV, choose the destination table, import and map columns, verify the rows, and run a quick SELECT to confirm the data is ready.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0857" y="2353805"/>
            <a:ext cx="8273143" cy="7508202"/>
          </a:xfrm>
          <a:custGeom>
            <a:avLst/>
            <a:gdLst/>
            <a:ahLst/>
            <a:cxnLst/>
            <a:rect r="r" b="b" t="t" l="l"/>
            <a:pathLst>
              <a:path h="7508202" w="8273143">
                <a:moveTo>
                  <a:pt x="0" y="0"/>
                </a:moveTo>
                <a:lnTo>
                  <a:pt x="8273143" y="0"/>
                </a:lnTo>
                <a:lnTo>
                  <a:pt x="8273143" y="7508202"/>
                </a:lnTo>
                <a:lnTo>
                  <a:pt x="0" y="7508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5296" y="2567148"/>
            <a:ext cx="1353312" cy="38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2225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SQL Code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6286" y="3214688"/>
            <a:ext cx="653143" cy="435890"/>
          </a:xfrm>
          <a:custGeom>
            <a:avLst/>
            <a:gdLst/>
            <a:ahLst/>
            <a:cxnLst/>
            <a:rect r="r" b="b" t="t" l="l"/>
            <a:pathLst>
              <a:path h="435890" w="653143">
                <a:moveTo>
                  <a:pt x="0" y="0"/>
                </a:moveTo>
                <a:lnTo>
                  <a:pt x="653143" y="0"/>
                </a:lnTo>
                <a:lnTo>
                  <a:pt x="653143" y="435889"/>
                </a:lnTo>
                <a:lnTo>
                  <a:pt x="0" y="435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75104" y="3169543"/>
            <a:ext cx="1828800" cy="29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Prepare the CSV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5104" y="3477212"/>
            <a:ext cx="5705856" cy="55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Ensure the file is clean and uses a consistentdelimiter (e.g., commas). Remove extra headers or notes.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06286" y="4282618"/>
            <a:ext cx="653143" cy="435890"/>
          </a:xfrm>
          <a:custGeom>
            <a:avLst/>
            <a:gdLst/>
            <a:ahLst/>
            <a:cxnLst/>
            <a:rect r="r" b="b" t="t" l="l"/>
            <a:pathLst>
              <a:path h="435890" w="653143">
                <a:moveTo>
                  <a:pt x="0" y="0"/>
                </a:moveTo>
                <a:lnTo>
                  <a:pt x="653143" y="0"/>
                </a:lnTo>
                <a:lnTo>
                  <a:pt x="653143" y="435889"/>
                </a:lnTo>
                <a:lnTo>
                  <a:pt x="0" y="435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75104" y="4270252"/>
            <a:ext cx="4352544" cy="29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Create or choose the destination table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5104" y="4577921"/>
            <a:ext cx="5650992" cy="55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Create the table or confirm the target table structure matches your CSV columns.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06286" y="5350548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75104" y="5370961"/>
            <a:ext cx="2523744" cy="29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Import/ Map columns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75104" y="5678630"/>
            <a:ext cx="5669280" cy="55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 </a:t>
            </a:r>
            <a:r>
              <a:rPr lang="en-US" sz="1820" b="true">
                <a:solidFill>
                  <a:srgbClr val="22222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LOAD DATA</a:t>
            </a: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(or your tool's import wizard) to load the CSV and map columns to the table.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06286" y="6211430"/>
            <a:ext cx="6966857" cy="1721765"/>
          </a:xfrm>
          <a:custGeom>
            <a:avLst/>
            <a:gdLst/>
            <a:ahLst/>
            <a:cxnLst/>
            <a:rect r="r" b="b" t="t" l="l"/>
            <a:pathLst>
              <a:path h="1721765" w="6966857">
                <a:moveTo>
                  <a:pt x="0" y="0"/>
                </a:moveTo>
                <a:lnTo>
                  <a:pt x="6966857" y="0"/>
                </a:lnTo>
                <a:lnTo>
                  <a:pt x="6966857" y="1721765"/>
                </a:lnTo>
                <a:lnTo>
                  <a:pt x="0" y="1721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57984" y="6471737"/>
            <a:ext cx="3511296" cy="116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8">
                <a:solidFill>
                  <a:srgbClr val="0B6B7B"/>
                </a:solidFill>
                <a:latin typeface="IBM Plex Mono"/>
                <a:ea typeface="IBM Plex Mono"/>
                <a:cs typeface="IBM Plex Mono"/>
                <a:sym typeface="IBM Plex Mono"/>
              </a:rPr>
              <a:t>LOAD DATA INFILE "FILE.CSV" INTO TABLE TOURISM_STATS FIELDS TERMINATED BY '',</a:t>
            </a:r>
          </a:p>
          <a:p>
            <a:pPr algn="l">
              <a:lnSpc>
                <a:spcPts val="2377"/>
              </a:lnSpc>
            </a:pPr>
            <a:r>
              <a:rPr lang="en-US" sz="1698">
                <a:solidFill>
                  <a:srgbClr val="0B6B7B"/>
                </a:solidFill>
                <a:latin typeface="IBM Plex Mono"/>
                <a:ea typeface="IBM Plex Mono"/>
                <a:cs typeface="IBM Plex Mono"/>
                <a:sym typeface="IBM Plex Mono"/>
              </a:rPr>
              <a:t>IGNORE 1 LINES;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6286" y="7922298"/>
            <a:ext cx="653143" cy="435890"/>
          </a:xfrm>
          <a:custGeom>
            <a:avLst/>
            <a:gdLst/>
            <a:ahLst/>
            <a:cxnLst/>
            <a:rect r="r" b="b" t="t" l="l"/>
            <a:pathLst>
              <a:path h="435890" w="653143">
                <a:moveTo>
                  <a:pt x="0" y="0"/>
                </a:moveTo>
                <a:lnTo>
                  <a:pt x="653143" y="0"/>
                </a:lnTo>
                <a:lnTo>
                  <a:pt x="653143" y="435890"/>
                </a:lnTo>
                <a:lnTo>
                  <a:pt x="0" y="435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75104" y="7891276"/>
            <a:ext cx="2816352" cy="29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Verify the imported rows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75104" y="8248026"/>
            <a:ext cx="5449824" cy="27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Check the row count and spot-check a few records.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06286" y="8565235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5"/>
                </a:lnTo>
                <a:lnTo>
                  <a:pt x="0" y="6538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975104" y="8713720"/>
            <a:ext cx="2157984" cy="29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Run a quick SELECT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75104" y="9032192"/>
            <a:ext cx="5705856" cy="55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Run a simple </a:t>
            </a:r>
            <a:r>
              <a:rPr lang="en-US" sz="1820" b="true">
                <a:solidFill>
                  <a:srgbClr val="22222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SELECT</a:t>
            </a:r>
            <a:r>
              <a:rPr lang="en-US" sz="1820">
                <a:solidFill>
                  <a:srgbClr val="22222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confirm the data looks correct and is ready for analysis.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144000" y="2353805"/>
            <a:ext cx="8273143" cy="7508202"/>
          </a:xfrm>
          <a:custGeom>
            <a:avLst/>
            <a:gdLst/>
            <a:ahLst/>
            <a:cxnLst/>
            <a:rect r="r" b="b" t="t" l="l"/>
            <a:pathLst>
              <a:path h="7508202" w="8273143">
                <a:moveTo>
                  <a:pt x="0" y="0"/>
                </a:moveTo>
                <a:lnTo>
                  <a:pt x="8273143" y="0"/>
                </a:lnTo>
                <a:lnTo>
                  <a:pt x="8273143" y="7508202"/>
                </a:lnTo>
                <a:lnTo>
                  <a:pt x="0" y="7508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528048" y="2562730"/>
            <a:ext cx="1024128" cy="39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B6B7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Output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61714" y="3214688"/>
            <a:ext cx="7620000" cy="1721765"/>
          </a:xfrm>
          <a:custGeom>
            <a:avLst/>
            <a:gdLst/>
            <a:ahLst/>
            <a:cxnLst/>
            <a:rect r="r" b="b" t="t" l="l"/>
            <a:pathLst>
              <a:path h="1721765" w="7620000">
                <a:moveTo>
                  <a:pt x="0" y="0"/>
                </a:moveTo>
                <a:lnTo>
                  <a:pt x="7620000" y="0"/>
                </a:lnTo>
                <a:lnTo>
                  <a:pt x="7620000" y="1721764"/>
                </a:lnTo>
                <a:lnTo>
                  <a:pt x="0" y="17217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97143" y="3639680"/>
            <a:ext cx="653143" cy="860882"/>
          </a:xfrm>
          <a:custGeom>
            <a:avLst/>
            <a:gdLst/>
            <a:ahLst/>
            <a:cxnLst/>
            <a:rect r="r" b="b" t="t" l="l"/>
            <a:pathLst>
              <a:path h="860882" w="653143">
                <a:moveTo>
                  <a:pt x="0" y="0"/>
                </a:moveTo>
                <a:lnTo>
                  <a:pt x="653143" y="0"/>
                </a:lnTo>
                <a:lnTo>
                  <a:pt x="653143" y="860883"/>
                </a:lnTo>
                <a:lnTo>
                  <a:pt x="0" y="8608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680192" y="3765248"/>
            <a:ext cx="3255264" cy="55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20" b="true">
                <a:solidFill>
                  <a:srgbClr val="22222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Rows imported successfully;</a:t>
            </a:r>
          </a:p>
          <a:p>
            <a:pPr algn="l">
              <a:lnSpc>
                <a:spcPts val="2275"/>
              </a:lnSpc>
            </a:pPr>
            <a:r>
              <a:rPr lang="en-US" sz="1820" b="true">
                <a:solidFill>
                  <a:srgbClr val="22222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is ready for queries.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3213532"/>
            <a:ext cx="128016" cy="35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0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81328" y="4303954"/>
            <a:ext cx="182880" cy="35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0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1328" y="5404663"/>
            <a:ext cx="182880" cy="35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0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81328" y="7924978"/>
            <a:ext cx="182880" cy="35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0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1328" y="8747938"/>
            <a:ext cx="182880" cy="35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0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66900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69042"/>
            <a:ext cx="5074547" cy="1094923"/>
          </a:xfrm>
          <a:custGeom>
            <a:avLst/>
            <a:gdLst/>
            <a:ahLst/>
            <a:cxnLst/>
            <a:rect r="r" b="b" t="t" l="l"/>
            <a:pathLst>
              <a:path h="1094923" w="5074547">
                <a:moveTo>
                  <a:pt x="0" y="0"/>
                </a:moveTo>
                <a:lnTo>
                  <a:pt x="5074547" y="0"/>
                </a:lnTo>
                <a:lnTo>
                  <a:pt x="5074547" y="1094923"/>
                </a:lnTo>
                <a:lnTo>
                  <a:pt x="0" y="1094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671419"/>
            <a:ext cx="2816295" cy="1014881"/>
          </a:xfrm>
          <a:custGeom>
            <a:avLst/>
            <a:gdLst/>
            <a:ahLst/>
            <a:cxnLst/>
            <a:rect r="r" b="b" t="t" l="l"/>
            <a:pathLst>
              <a:path h="1014881" w="2816295">
                <a:moveTo>
                  <a:pt x="0" y="0"/>
                </a:moveTo>
                <a:lnTo>
                  <a:pt x="2816295" y="0"/>
                </a:lnTo>
                <a:lnTo>
                  <a:pt x="2816295" y="1014881"/>
                </a:lnTo>
                <a:lnTo>
                  <a:pt x="0" y="1014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Retrieval - Total Records Count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5740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COUNT(*) Function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Calculates the total number of rows present in a specified database table regardless of NULL values.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8909685"/>
            <a:ext cx="154686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tourism_stats dataset contains 500 unique entries, providing a robust sample size for statistical analysis across global tourism activities.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8053687" cy="1412558"/>
          </a:xfrm>
          <a:custGeom>
            <a:avLst/>
            <a:gdLst/>
            <a:ahLst/>
            <a:cxnLst/>
            <a:rect r="r" b="b" t="t" l="l"/>
            <a:pathLst>
              <a:path h="1412558" w="8053687">
                <a:moveTo>
                  <a:pt x="0" y="0"/>
                </a:moveTo>
                <a:lnTo>
                  <a:pt x="8053687" y="0"/>
                </a:lnTo>
                <a:lnTo>
                  <a:pt x="8053687" y="1412558"/>
                </a:lnTo>
                <a:lnTo>
                  <a:pt x="0" y="1412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640455"/>
            <a:ext cx="3321252" cy="4512461"/>
          </a:xfrm>
          <a:custGeom>
            <a:avLst/>
            <a:gdLst/>
            <a:ahLst/>
            <a:cxnLst/>
            <a:rect r="r" b="b" t="t" l="l"/>
            <a:pathLst>
              <a:path h="4512461" w="3321252">
                <a:moveTo>
                  <a:pt x="0" y="0"/>
                </a:moveTo>
                <a:lnTo>
                  <a:pt x="3321252" y="0"/>
                </a:lnTo>
                <a:lnTo>
                  <a:pt x="3321252" y="4512461"/>
                </a:lnTo>
                <a:lnTo>
                  <a:pt x="0" y="4512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Retrieval - Filter Records by Country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WHERE Clause Filtering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Filters rows from a query result based on a specified comparison condition (e.g., matching string equality).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Filtering by Country = 'India' isolates key Indian tourist hubs like Mumbai and Delhi for country-specific regional evaluations.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4847072" cy="969414"/>
          </a:xfrm>
          <a:custGeom>
            <a:avLst/>
            <a:gdLst/>
            <a:ahLst/>
            <a:cxnLst/>
            <a:rect r="r" b="b" t="t" l="l"/>
            <a:pathLst>
              <a:path h="969414" w="4847072">
                <a:moveTo>
                  <a:pt x="0" y="0"/>
                </a:moveTo>
                <a:lnTo>
                  <a:pt x="4847072" y="0"/>
                </a:lnTo>
                <a:lnTo>
                  <a:pt x="4847072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30942"/>
            <a:ext cx="2971964" cy="3334952"/>
          </a:xfrm>
          <a:custGeom>
            <a:avLst/>
            <a:gdLst/>
            <a:ahLst/>
            <a:cxnLst/>
            <a:rect r="r" b="b" t="t" l="l"/>
            <a:pathLst>
              <a:path h="3334952" w="2971964">
                <a:moveTo>
                  <a:pt x="0" y="0"/>
                </a:moveTo>
                <a:lnTo>
                  <a:pt x="2971964" y="0"/>
                </a:lnTo>
                <a:lnTo>
                  <a:pt x="2971964" y="3334952"/>
                </a:lnTo>
                <a:lnTo>
                  <a:pt x="0" y="3334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Retrieval - Distinct Purpose of Visit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DISTINCT Keyword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Eliminates duplicate values from the query result set, returning only unique entries for a specified column.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Global travel is categorized into 7 distinct visit types, spanning leisure, cultural, medical, business, and educational tourism.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7156729" cy="1950163"/>
          </a:xfrm>
          <a:custGeom>
            <a:avLst/>
            <a:gdLst/>
            <a:ahLst/>
            <a:cxnLst/>
            <a:rect r="r" b="b" t="t" l="l"/>
            <a:pathLst>
              <a:path h="1950163" w="7156729">
                <a:moveTo>
                  <a:pt x="0" y="0"/>
                </a:moveTo>
                <a:lnTo>
                  <a:pt x="7156729" y="0"/>
                </a:lnTo>
                <a:lnTo>
                  <a:pt x="7156729" y="1950163"/>
                </a:lnTo>
                <a:lnTo>
                  <a:pt x="0" y="195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52751"/>
            <a:ext cx="4355607" cy="2450029"/>
          </a:xfrm>
          <a:custGeom>
            <a:avLst/>
            <a:gdLst/>
            <a:ahLst/>
            <a:cxnLst/>
            <a:rect r="r" b="b" t="t" l="l"/>
            <a:pathLst>
              <a:path h="2450029" w="4355607">
                <a:moveTo>
                  <a:pt x="0" y="0"/>
                </a:moveTo>
                <a:lnTo>
                  <a:pt x="4355607" y="0"/>
                </a:lnTo>
                <a:lnTo>
                  <a:pt x="4355607" y="2450028"/>
                </a:lnTo>
                <a:lnTo>
                  <a:pt x="0" y="2450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20586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Retrieval - Top 5 Cities by Tourist Volume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ORDER BY + LIMIT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 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Sorts records in descending order based on aggregate tourist totals and restricts the response to the top N rows.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Johannesburg and Luxor lead globally in visitor volume, each exceeding 2.3 million tourists.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700"/>
            <a:ext cx="6770662" cy="1834078"/>
          </a:xfrm>
          <a:custGeom>
            <a:avLst/>
            <a:gdLst/>
            <a:ahLst/>
            <a:cxnLst/>
            <a:rect r="r" b="b" t="t" l="l"/>
            <a:pathLst>
              <a:path h="1834078" w="6770662">
                <a:moveTo>
                  <a:pt x="0" y="0"/>
                </a:moveTo>
                <a:lnTo>
                  <a:pt x="6770662" y="0"/>
                </a:lnTo>
                <a:lnTo>
                  <a:pt x="6770662" y="1834079"/>
                </a:lnTo>
                <a:lnTo>
                  <a:pt x="0" y="1834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722631" cy="1186712"/>
          </a:xfrm>
          <a:custGeom>
            <a:avLst/>
            <a:gdLst/>
            <a:ahLst/>
            <a:cxnLst/>
            <a:rect r="r" b="b" t="t" l="l"/>
            <a:pathLst>
              <a:path h="1186712" w="4722631">
                <a:moveTo>
                  <a:pt x="0" y="0"/>
                </a:moveTo>
                <a:lnTo>
                  <a:pt x="4722631" y="0"/>
                </a:lnTo>
                <a:lnTo>
                  <a:pt x="4722631" y="1186712"/>
                </a:lnTo>
                <a:lnTo>
                  <a:pt x="0" y="118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14650" y="581025"/>
            <a:ext cx="139636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Retrieval - City with Highest Average Room 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AVG() Aggregation with LIMIT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Computes the arithmetic mean of numerical values per group and isolates the single highest value.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Puerto Vallarta commands the highest average hotel room rate at $347.11 USD, indicating a premium destination profile.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91970"/>
            <a:ext cx="7714412" cy="1404419"/>
          </a:xfrm>
          <a:custGeom>
            <a:avLst/>
            <a:gdLst/>
            <a:ahLst/>
            <a:cxnLst/>
            <a:rect r="r" b="b" t="t" l="l"/>
            <a:pathLst>
              <a:path h="1404419" w="7714412">
                <a:moveTo>
                  <a:pt x="0" y="0"/>
                </a:moveTo>
                <a:lnTo>
                  <a:pt x="7714412" y="0"/>
                </a:lnTo>
                <a:lnTo>
                  <a:pt x="7714412" y="1404418"/>
                </a:lnTo>
                <a:lnTo>
                  <a:pt x="0" y="140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739076" cy="4530267"/>
          </a:xfrm>
          <a:custGeom>
            <a:avLst/>
            <a:gdLst/>
            <a:ahLst/>
            <a:cxnLst/>
            <a:rect r="r" b="b" t="t" l="l"/>
            <a:pathLst>
              <a:path h="4530267" w="4739076">
                <a:moveTo>
                  <a:pt x="0" y="0"/>
                </a:moveTo>
                <a:lnTo>
                  <a:pt x="4739076" y="0"/>
                </a:lnTo>
                <a:lnTo>
                  <a:pt x="4739076" y="4530267"/>
                </a:lnTo>
                <a:lnTo>
                  <a:pt x="0" y="4530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162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Retrieval - Revenue Range Filtering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BETWEEN Operator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Filters records where column values fall inclusively within a specified lower and upper numerical range.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Isolate mid-market destinations generating $200k to $400k revenue per entry, such as Venice and Tokyo.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7222174" cy="987648"/>
          </a:xfrm>
          <a:custGeom>
            <a:avLst/>
            <a:gdLst/>
            <a:ahLst/>
            <a:cxnLst/>
            <a:rect r="r" b="b" t="t" l="l"/>
            <a:pathLst>
              <a:path h="987648" w="7222174">
                <a:moveTo>
                  <a:pt x="0" y="0"/>
                </a:moveTo>
                <a:lnTo>
                  <a:pt x="7222174" y="0"/>
                </a:lnTo>
                <a:lnTo>
                  <a:pt x="7222174" y="987648"/>
                </a:lnTo>
                <a:lnTo>
                  <a:pt x="0" y="987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2221677" cy="860004"/>
          </a:xfrm>
          <a:custGeom>
            <a:avLst/>
            <a:gdLst/>
            <a:ahLst/>
            <a:cxnLst/>
            <a:rect r="r" b="b" t="t" l="l"/>
            <a:pathLst>
              <a:path h="860004" w="2221677">
                <a:moveTo>
                  <a:pt x="0" y="0"/>
                </a:moveTo>
                <a:lnTo>
                  <a:pt x="2221677" y="0"/>
                </a:lnTo>
                <a:lnTo>
                  <a:pt x="2221677" y="860004"/>
                </a:lnTo>
                <a:lnTo>
                  <a:pt x="0" y="860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 Functions &amp; Grouping - Global Tourism Revenue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Total SUM() Aggregation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Adds together all numerical values in a column to calculate an overall aggregate total.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recorded global tourism dataset accounts for over $174.8 million USD in direct economic revenue.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66399" y="3730942"/>
            <a:ext cx="8417216" cy="2143637"/>
          </a:xfrm>
          <a:custGeom>
            <a:avLst/>
            <a:gdLst/>
            <a:ahLst/>
            <a:cxnLst/>
            <a:rect r="r" b="b" t="t" l="l"/>
            <a:pathLst>
              <a:path h="2143637" w="8417216">
                <a:moveTo>
                  <a:pt x="0" y="0"/>
                </a:moveTo>
                <a:lnTo>
                  <a:pt x="8417216" y="0"/>
                </a:lnTo>
                <a:lnTo>
                  <a:pt x="8417216" y="2143637"/>
                </a:lnTo>
                <a:lnTo>
                  <a:pt x="0" y="2143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824989" cy="2822618"/>
          </a:xfrm>
          <a:custGeom>
            <a:avLst/>
            <a:gdLst/>
            <a:ahLst/>
            <a:cxnLst/>
            <a:rect r="r" b="b" t="t" l="l"/>
            <a:pathLst>
              <a:path h="2822618" w="4824989">
                <a:moveTo>
                  <a:pt x="0" y="0"/>
                </a:moveTo>
                <a:lnTo>
                  <a:pt x="4824989" y="0"/>
                </a:lnTo>
                <a:lnTo>
                  <a:pt x="4824989" y="2822618"/>
                </a:lnTo>
                <a:lnTo>
                  <a:pt x="0" y="28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 Functions &amp; Grouping - Total Tourists Per Country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GROUP BY Clause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Groups individual rows sharing common column values into summary rows for aggregate calculation.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China and Italy are the top destination countries, each attracting over 4 million visitors.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7460141" cy="2331294"/>
          </a:xfrm>
          <a:custGeom>
            <a:avLst/>
            <a:gdLst/>
            <a:ahLst/>
            <a:cxnLst/>
            <a:rect r="r" b="b" t="t" l="l"/>
            <a:pathLst>
              <a:path h="2331294" w="7460141">
                <a:moveTo>
                  <a:pt x="0" y="0"/>
                </a:moveTo>
                <a:lnTo>
                  <a:pt x="7460141" y="0"/>
                </a:lnTo>
                <a:lnTo>
                  <a:pt x="7460141" y="2331294"/>
                </a:lnTo>
                <a:lnTo>
                  <a:pt x="0" y="233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06768"/>
            <a:ext cx="4495964" cy="3232812"/>
          </a:xfrm>
          <a:custGeom>
            <a:avLst/>
            <a:gdLst/>
            <a:ahLst/>
            <a:cxnLst/>
            <a:rect r="r" b="b" t="t" l="l"/>
            <a:pathLst>
              <a:path h="3232812" w="4495964">
                <a:moveTo>
                  <a:pt x="0" y="0"/>
                </a:moveTo>
                <a:lnTo>
                  <a:pt x="4495964" y="0"/>
                </a:lnTo>
                <a:lnTo>
                  <a:pt x="4495964" y="3232812"/>
                </a:lnTo>
                <a:lnTo>
                  <a:pt x="0" y="3232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 Functions &amp; Grouping - Average Tourist Spending by Visit Purpose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Category Grouping with AVG()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Calculates column averages partitioned across distinct categorical values.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Business travelers exhibit the highest individual spending per trip at $2,922.60 USD.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62933"/>
            <a:ext cx="8313039" cy="1871943"/>
          </a:xfrm>
          <a:custGeom>
            <a:avLst/>
            <a:gdLst/>
            <a:ahLst/>
            <a:cxnLst/>
            <a:rect r="r" b="b" t="t" l="l"/>
            <a:pathLst>
              <a:path h="1871943" w="8313039">
                <a:moveTo>
                  <a:pt x="0" y="0"/>
                </a:moveTo>
                <a:lnTo>
                  <a:pt x="8313039" y="0"/>
                </a:lnTo>
                <a:lnTo>
                  <a:pt x="8313039" y="1871943"/>
                </a:lnTo>
                <a:lnTo>
                  <a:pt x="0" y="1871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495964" cy="2863351"/>
          </a:xfrm>
          <a:custGeom>
            <a:avLst/>
            <a:gdLst/>
            <a:ahLst/>
            <a:cxnLst/>
            <a:rect r="r" b="b" t="t" l="l"/>
            <a:pathLst>
              <a:path h="2863351" w="4495964">
                <a:moveTo>
                  <a:pt x="0" y="0"/>
                </a:moveTo>
                <a:lnTo>
                  <a:pt x="4495964" y="0"/>
                </a:lnTo>
                <a:lnTo>
                  <a:pt x="4495964" y="2863351"/>
                </a:lnTo>
                <a:lnTo>
                  <a:pt x="0" y="2863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 Functions &amp; Grouping - Yearly Hotel Occupancy Trend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Temporal GROUP BY Aggregation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Aggregates yearly trends to observe macro-level shifts over time.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Global hotel occupancy hovered between 63%–68%, showing stability following 2020.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8589" y="3732554"/>
            <a:ext cx="9208617" cy="2274813"/>
          </a:xfrm>
          <a:custGeom>
            <a:avLst/>
            <a:gdLst/>
            <a:ahLst/>
            <a:cxnLst/>
            <a:rect r="r" b="b" t="t" l="l"/>
            <a:pathLst>
              <a:path h="2274813" w="9208617">
                <a:moveTo>
                  <a:pt x="0" y="0"/>
                </a:moveTo>
                <a:lnTo>
                  <a:pt x="9208617" y="0"/>
                </a:lnTo>
                <a:lnTo>
                  <a:pt x="9208617" y="2274813"/>
                </a:lnTo>
                <a:lnTo>
                  <a:pt x="0" y="2274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853187" cy="1181864"/>
          </a:xfrm>
          <a:custGeom>
            <a:avLst/>
            <a:gdLst/>
            <a:ahLst/>
            <a:cxnLst/>
            <a:rect r="r" b="b" t="t" l="l"/>
            <a:pathLst>
              <a:path h="1181864" w="4853187">
                <a:moveTo>
                  <a:pt x="0" y="0"/>
                </a:moveTo>
                <a:lnTo>
                  <a:pt x="4853187" y="0"/>
                </a:lnTo>
                <a:lnTo>
                  <a:pt x="4853187" y="1181864"/>
                </a:lnTo>
                <a:lnTo>
                  <a:pt x="0" y="1181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Aggregate Functions &amp; Grouping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High Satisfaction Destinations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HAVING Clause Filtering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Filters grouped result sets based on aggregate condition thresholds (unlike WHERE, which filters individual rows).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Egypt is the only country maintaining a national visitor satisfaction average above 8.0 / 10.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8836584" cy="2332499"/>
          </a:xfrm>
          <a:custGeom>
            <a:avLst/>
            <a:gdLst/>
            <a:ahLst/>
            <a:cxnLst/>
            <a:rect r="r" b="b" t="t" l="l"/>
            <a:pathLst>
              <a:path h="2332499" w="8836584">
                <a:moveTo>
                  <a:pt x="0" y="0"/>
                </a:moveTo>
                <a:lnTo>
                  <a:pt x="8836584" y="0"/>
                </a:lnTo>
                <a:lnTo>
                  <a:pt x="8836584" y="2332500"/>
                </a:lnTo>
                <a:lnTo>
                  <a:pt x="0" y="233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63469" y="3726180"/>
            <a:ext cx="4922023" cy="2054825"/>
          </a:xfrm>
          <a:custGeom>
            <a:avLst/>
            <a:gdLst/>
            <a:ahLst/>
            <a:cxnLst/>
            <a:rect r="r" b="b" t="t" l="l"/>
            <a:pathLst>
              <a:path h="2054825" w="4922023">
                <a:moveTo>
                  <a:pt x="0" y="0"/>
                </a:moveTo>
                <a:lnTo>
                  <a:pt x="4922024" y="0"/>
                </a:lnTo>
                <a:lnTo>
                  <a:pt x="4922024" y="2054825"/>
                </a:lnTo>
                <a:lnTo>
                  <a:pt x="0" y="2054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 Functions &amp; Grouping - Top Revenue Generating Cities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Aggregate Sorting &amp; Filtering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Combines GROUP BY, SUM(), and ORDER BY to find top economic contributors.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Luxor generates the highest total revenue at $8.31M USD, outpacing Beijing and Johannesburg.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67608"/>
            <a:ext cx="9414758" cy="3300018"/>
          </a:xfrm>
          <a:custGeom>
            <a:avLst/>
            <a:gdLst/>
            <a:ahLst/>
            <a:cxnLst/>
            <a:rect r="r" b="b" t="t" l="l"/>
            <a:pathLst>
              <a:path h="3300018" w="9414758">
                <a:moveTo>
                  <a:pt x="0" y="0"/>
                </a:moveTo>
                <a:lnTo>
                  <a:pt x="9414758" y="0"/>
                </a:lnTo>
                <a:lnTo>
                  <a:pt x="9414758" y="3300018"/>
                </a:lnTo>
                <a:lnTo>
                  <a:pt x="0" y="330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67608"/>
            <a:ext cx="4991264" cy="1848616"/>
          </a:xfrm>
          <a:custGeom>
            <a:avLst/>
            <a:gdLst/>
            <a:ahLst/>
            <a:cxnLst/>
            <a:rect r="r" b="b" t="t" l="l"/>
            <a:pathLst>
              <a:path h="1848616" w="4991264">
                <a:moveTo>
                  <a:pt x="0" y="0"/>
                </a:moveTo>
                <a:lnTo>
                  <a:pt x="4991264" y="0"/>
                </a:lnTo>
                <a:lnTo>
                  <a:pt x="4991264" y="1848616"/>
                </a:lnTo>
                <a:lnTo>
                  <a:pt x="0" y="1848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Cond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itional Logic - Tourist Volume Classification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CASE WHEN Conditional Mapping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Evaluates multiple conditions sequentially and returns a formatted result value when the first condition is met.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Classifies markets into tiers (High/Medium/Low) to guide infrastructure allocation.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8812716" cy="3318235"/>
          </a:xfrm>
          <a:custGeom>
            <a:avLst/>
            <a:gdLst/>
            <a:ahLst/>
            <a:cxnLst/>
            <a:rect r="r" b="b" t="t" l="l"/>
            <a:pathLst>
              <a:path h="3318235" w="8812716">
                <a:moveTo>
                  <a:pt x="0" y="0"/>
                </a:moveTo>
                <a:lnTo>
                  <a:pt x="8812716" y="0"/>
                </a:lnTo>
                <a:lnTo>
                  <a:pt x="8812716" y="3318235"/>
                </a:lnTo>
                <a:lnTo>
                  <a:pt x="0" y="3318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19588"/>
            <a:ext cx="5060943" cy="2316355"/>
          </a:xfrm>
          <a:custGeom>
            <a:avLst/>
            <a:gdLst/>
            <a:ahLst/>
            <a:cxnLst/>
            <a:rect r="r" b="b" t="t" l="l"/>
            <a:pathLst>
              <a:path h="2316355" w="5060943">
                <a:moveTo>
                  <a:pt x="0" y="0"/>
                </a:moveTo>
                <a:lnTo>
                  <a:pt x="5060943" y="0"/>
                </a:lnTo>
                <a:lnTo>
                  <a:pt x="5060943" y="2316354"/>
                </a:lnTo>
                <a:lnTo>
                  <a:pt x="0" y="2316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Cond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itional Logic - Eco-Tourism Flagging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Boolean CASE WHEN Categorization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Dynamically flags records based on eco-revenue parameters.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Antalya, Athens, and Bangkok exceed $500k in eco-revenue, qualifying as sustainable hubs.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8494300" cy="2855842"/>
          </a:xfrm>
          <a:custGeom>
            <a:avLst/>
            <a:gdLst/>
            <a:ahLst/>
            <a:cxnLst/>
            <a:rect r="r" b="b" t="t" l="l"/>
            <a:pathLst>
              <a:path h="2855842" w="8494300">
                <a:moveTo>
                  <a:pt x="0" y="0"/>
                </a:moveTo>
                <a:lnTo>
                  <a:pt x="8494300" y="0"/>
                </a:lnTo>
                <a:lnTo>
                  <a:pt x="8494300" y="2855843"/>
                </a:lnTo>
                <a:lnTo>
                  <a:pt x="0" y="2855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40480"/>
            <a:ext cx="5115454" cy="929289"/>
          </a:xfrm>
          <a:custGeom>
            <a:avLst/>
            <a:gdLst/>
            <a:ahLst/>
            <a:cxnLst/>
            <a:rect r="r" b="b" t="t" l="l"/>
            <a:pathLst>
              <a:path h="929289" w="5115454">
                <a:moveTo>
                  <a:pt x="0" y="0"/>
                </a:moveTo>
                <a:lnTo>
                  <a:pt x="5115454" y="0"/>
                </a:lnTo>
                <a:lnTo>
                  <a:pt x="5115454" y="929289"/>
                </a:lnTo>
                <a:lnTo>
                  <a:pt x="0" y="929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08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Joins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Combining Tourism &amp; Hospitality Stats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INNER JOIN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Merges rows from two tables where the join predicate condition holds true in both tables.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Combines visitor spending with hotel rates to show economic relationships per transaction.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32753"/>
            <a:ext cx="5850161" cy="2983003"/>
          </a:xfrm>
          <a:custGeom>
            <a:avLst/>
            <a:gdLst/>
            <a:ahLst/>
            <a:cxnLst/>
            <a:rect r="r" b="b" t="t" l="l"/>
            <a:pathLst>
              <a:path h="2983003" w="5850161">
                <a:moveTo>
                  <a:pt x="0" y="0"/>
                </a:moveTo>
                <a:lnTo>
                  <a:pt x="5850161" y="0"/>
                </a:lnTo>
                <a:lnTo>
                  <a:pt x="5850161" y="2983002"/>
                </a:lnTo>
                <a:lnTo>
                  <a:pt x="0" y="2983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101182" cy="1417320"/>
          </a:xfrm>
          <a:custGeom>
            <a:avLst/>
            <a:gdLst/>
            <a:ahLst/>
            <a:cxnLst/>
            <a:rect r="r" b="b" t="t" l="l"/>
            <a:pathLst>
              <a:path h="1417320" w="4101182">
                <a:moveTo>
                  <a:pt x="0" y="0"/>
                </a:moveTo>
                <a:lnTo>
                  <a:pt x="4101182" y="0"/>
                </a:lnTo>
                <a:lnTo>
                  <a:pt x="4101182" y="1417320"/>
                </a:lnTo>
                <a:lnTo>
                  <a:pt x="0" y="141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  - Unmatched Record Verification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LEFT JOIN with IS NULL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Keeps all records from the left table and returns NULL for missing right-table matches to identify gaps.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Confirms 100% relational data integrity between tourism_stats and hospitality_stats.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8433859" cy="2139320"/>
          </a:xfrm>
          <a:custGeom>
            <a:avLst/>
            <a:gdLst/>
            <a:ahLst/>
            <a:cxnLst/>
            <a:rect r="r" b="b" t="t" l="l"/>
            <a:pathLst>
              <a:path h="2139320" w="8433859">
                <a:moveTo>
                  <a:pt x="0" y="0"/>
                </a:moveTo>
                <a:lnTo>
                  <a:pt x="8433859" y="0"/>
                </a:lnTo>
                <a:lnTo>
                  <a:pt x="8433859" y="2139321"/>
                </a:lnTo>
                <a:lnTo>
                  <a:pt x="0" y="2139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30942"/>
            <a:ext cx="4991264" cy="2413808"/>
          </a:xfrm>
          <a:custGeom>
            <a:avLst/>
            <a:gdLst/>
            <a:ahLst/>
            <a:cxnLst/>
            <a:rect r="r" b="b" t="t" l="l"/>
            <a:pathLst>
              <a:path h="2413808" w="4991264">
                <a:moveTo>
                  <a:pt x="0" y="0"/>
                </a:moveTo>
                <a:lnTo>
                  <a:pt x="4991264" y="0"/>
                </a:lnTo>
                <a:lnTo>
                  <a:pt x="4991264" y="2413808"/>
                </a:lnTo>
                <a:lnTo>
                  <a:pt x="0" y="2413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 - Intra-Country City Pairing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SELF JOIN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Joins a table to itself to compare records within the same dataset.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Maps multi-city travel routes within destination countries like Australia and India.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8814974" cy="2715965"/>
          </a:xfrm>
          <a:custGeom>
            <a:avLst/>
            <a:gdLst/>
            <a:ahLst/>
            <a:cxnLst/>
            <a:rect r="r" b="b" t="t" l="l"/>
            <a:pathLst>
              <a:path h="2715965" w="8814974">
                <a:moveTo>
                  <a:pt x="0" y="0"/>
                </a:moveTo>
                <a:lnTo>
                  <a:pt x="8814974" y="0"/>
                </a:lnTo>
                <a:lnTo>
                  <a:pt x="8814974" y="2715965"/>
                </a:lnTo>
                <a:lnTo>
                  <a:pt x="0" y="2715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65373"/>
            <a:ext cx="4991264" cy="1969031"/>
          </a:xfrm>
          <a:custGeom>
            <a:avLst/>
            <a:gdLst/>
            <a:ahLst/>
            <a:cxnLst/>
            <a:rect r="r" b="b" t="t" l="l"/>
            <a:pathLst>
              <a:path h="1969031" w="4991264">
                <a:moveTo>
                  <a:pt x="0" y="0"/>
                </a:moveTo>
                <a:lnTo>
                  <a:pt x="4991264" y="0"/>
                </a:lnTo>
                <a:lnTo>
                  <a:pt x="4991264" y="1969031"/>
                </a:lnTo>
                <a:lnTo>
                  <a:pt x="0" y="1969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581025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 - Hotel Ratings by Purpose of Visit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Multi-Table Cross Aggregation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Aggregates related entries across joined tables to reveal cross-domain patterns.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Business travelers log the most stays in 5-star accommodations (18 entries).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3000" y="3846068"/>
            <a:ext cx="7531559" cy="3084734"/>
          </a:xfrm>
          <a:custGeom>
            <a:avLst/>
            <a:gdLst/>
            <a:ahLst/>
            <a:cxnLst/>
            <a:rect r="r" b="b" t="t" l="l"/>
            <a:pathLst>
              <a:path h="3084734" w="7531559">
                <a:moveTo>
                  <a:pt x="0" y="0"/>
                </a:moveTo>
                <a:lnTo>
                  <a:pt x="7531559" y="0"/>
                </a:lnTo>
                <a:lnTo>
                  <a:pt x="7531559" y="3084734"/>
                </a:lnTo>
                <a:lnTo>
                  <a:pt x="0" y="3084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46068"/>
            <a:ext cx="4884039" cy="2889150"/>
          </a:xfrm>
          <a:custGeom>
            <a:avLst/>
            <a:gdLst/>
            <a:ahLst/>
            <a:cxnLst/>
            <a:rect r="r" b="b" t="t" l="l"/>
            <a:pathLst>
              <a:path h="2889150" w="4884039">
                <a:moveTo>
                  <a:pt x="0" y="0"/>
                </a:moveTo>
                <a:lnTo>
                  <a:pt x="4884039" y="0"/>
                </a:lnTo>
                <a:lnTo>
                  <a:pt x="4884039" y="2889149"/>
                </a:lnTo>
                <a:lnTo>
                  <a:pt x="0" y="2889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Subqueries &amp; CTEs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Cities Exceeding Average Revenue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 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Scalar Subquery in HAVING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Uses an inner SELECT query to calculate a benchmark dynamically.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Filters out underperforming cities by comparing them against global benchmarks.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645217"/>
            <a:ext cx="7200885" cy="4423185"/>
          </a:xfrm>
          <a:custGeom>
            <a:avLst/>
            <a:gdLst/>
            <a:ahLst/>
            <a:cxnLst/>
            <a:rect r="r" b="b" t="t" l="l"/>
            <a:pathLst>
              <a:path h="4423185" w="7200885">
                <a:moveTo>
                  <a:pt x="0" y="0"/>
                </a:moveTo>
                <a:lnTo>
                  <a:pt x="7200885" y="0"/>
                </a:lnTo>
                <a:lnTo>
                  <a:pt x="7200885" y="4423185"/>
                </a:lnTo>
                <a:lnTo>
                  <a:pt x="0" y="4423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40480"/>
            <a:ext cx="5108718" cy="2272858"/>
          </a:xfrm>
          <a:custGeom>
            <a:avLst/>
            <a:gdLst/>
            <a:ahLst/>
            <a:cxnLst/>
            <a:rect r="r" b="b" t="t" l="l"/>
            <a:pathLst>
              <a:path h="2272858" w="5108718">
                <a:moveTo>
                  <a:pt x="0" y="0"/>
                </a:moveTo>
                <a:lnTo>
                  <a:pt x="5108718" y="0"/>
                </a:lnTo>
                <a:lnTo>
                  <a:pt x="5108718" y="2272858"/>
                </a:lnTo>
                <a:lnTo>
                  <a:pt x="0" y="2272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Subqueries &amp; CTEs 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Highest Revenue City per Country (Correlated Subquery)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Correlated Subquery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Evaluates an inner query repeatedly for each candidate row processed by the outer query.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Identifies top economic driver cities per country, such as Brisbane in Australia and Luxor in Egypt.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2881598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8302425" cy="3408364"/>
          </a:xfrm>
          <a:custGeom>
            <a:avLst/>
            <a:gdLst/>
            <a:ahLst/>
            <a:cxnLst/>
            <a:rect r="r" b="b" t="t" l="l"/>
            <a:pathLst>
              <a:path h="3408364" w="8302425">
                <a:moveTo>
                  <a:pt x="0" y="0"/>
                </a:moveTo>
                <a:lnTo>
                  <a:pt x="8302425" y="0"/>
                </a:lnTo>
                <a:lnTo>
                  <a:pt x="8302425" y="3408364"/>
                </a:lnTo>
                <a:lnTo>
                  <a:pt x="0" y="340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4867952" cy="2227039"/>
          </a:xfrm>
          <a:custGeom>
            <a:avLst/>
            <a:gdLst/>
            <a:ahLst/>
            <a:cxnLst/>
            <a:rect r="r" b="b" t="t" l="l"/>
            <a:pathLst>
              <a:path h="2227039" w="4867952">
                <a:moveTo>
                  <a:pt x="0" y="0"/>
                </a:moveTo>
                <a:lnTo>
                  <a:pt x="4867952" y="0"/>
                </a:lnTo>
                <a:lnTo>
                  <a:pt x="4867952" y="2227038"/>
                </a:lnTo>
                <a:lnTo>
                  <a:pt x="0" y="2227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Subqueries &amp; CTEs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Highest Revenue City per Country (CTE Approach)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Common Table Expression (WITH Clause)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Defines a temporary named result set that simplifies query structure and improves readability.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Delivers the same outcome as Slide 20 with better query performance and readability.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9048505" cy="2524645"/>
          </a:xfrm>
          <a:custGeom>
            <a:avLst/>
            <a:gdLst/>
            <a:ahLst/>
            <a:cxnLst/>
            <a:rect r="r" b="b" t="t" l="l"/>
            <a:pathLst>
              <a:path h="2524645" w="9048505">
                <a:moveTo>
                  <a:pt x="0" y="0"/>
                </a:moveTo>
                <a:lnTo>
                  <a:pt x="9048505" y="0"/>
                </a:lnTo>
                <a:lnTo>
                  <a:pt x="9048505" y="2524645"/>
                </a:lnTo>
                <a:lnTo>
                  <a:pt x="0" y="2524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3517953" cy="3215629"/>
          </a:xfrm>
          <a:custGeom>
            <a:avLst/>
            <a:gdLst/>
            <a:ahLst/>
            <a:cxnLst/>
            <a:rect r="r" b="b" t="t" l="l"/>
            <a:pathLst>
              <a:path h="3215629" w="3517953">
                <a:moveTo>
                  <a:pt x="0" y="0"/>
                </a:moveTo>
                <a:lnTo>
                  <a:pt x="3517953" y="0"/>
                </a:lnTo>
                <a:lnTo>
                  <a:pt x="3517953" y="3215629"/>
                </a:lnTo>
                <a:lnTo>
                  <a:pt x="0" y="3215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Subqu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eries &amp; CTEs- Countries with 5-Star Accommodations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EXISTS Operator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Tests for the presence of records in a subquery, returning TRUE as soon as a match is found.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Efficiently confirms luxury hotel infrastructure in target markets.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8962366" cy="1217883"/>
          </a:xfrm>
          <a:custGeom>
            <a:avLst/>
            <a:gdLst/>
            <a:ahLst/>
            <a:cxnLst/>
            <a:rect r="r" b="b" t="t" l="l"/>
            <a:pathLst>
              <a:path h="1217883" w="8962366">
                <a:moveTo>
                  <a:pt x="0" y="0"/>
                </a:moveTo>
                <a:lnTo>
                  <a:pt x="8962366" y="0"/>
                </a:lnTo>
                <a:lnTo>
                  <a:pt x="8962366" y="1217883"/>
                </a:lnTo>
                <a:lnTo>
                  <a:pt x="0" y="1217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40480"/>
            <a:ext cx="5208015" cy="1967472"/>
          </a:xfrm>
          <a:custGeom>
            <a:avLst/>
            <a:gdLst/>
            <a:ahLst/>
            <a:cxnLst/>
            <a:rect r="r" b="b" t="t" l="l"/>
            <a:pathLst>
              <a:path h="1967472" w="5208015">
                <a:moveTo>
                  <a:pt x="0" y="0"/>
                </a:moveTo>
                <a:lnTo>
                  <a:pt x="5208015" y="0"/>
                </a:lnTo>
                <a:lnTo>
                  <a:pt x="5208015" y="1967472"/>
                </a:lnTo>
                <a:lnTo>
                  <a:pt x="0" y="1967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indow Functions - Rank Cities by Revenue within Country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RANK() OVER (PARTITION BY)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Assigns a rank to each row within a partition, leaving gaps when ties occur.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Ranks cities by revenue within each country without collapsing individual rows.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887036" y="3726180"/>
            <a:ext cx="4700337" cy="2310670"/>
          </a:xfrm>
          <a:custGeom>
            <a:avLst/>
            <a:gdLst/>
            <a:ahLst/>
            <a:cxnLst/>
            <a:rect r="r" b="b" t="t" l="l"/>
            <a:pathLst>
              <a:path h="2310670" w="4700337">
                <a:moveTo>
                  <a:pt x="0" y="0"/>
                </a:moveTo>
                <a:lnTo>
                  <a:pt x="4700337" y="0"/>
                </a:lnTo>
                <a:lnTo>
                  <a:pt x="4700337" y="2310670"/>
                </a:lnTo>
                <a:lnTo>
                  <a:pt x="0" y="2310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9700" y="3845242"/>
            <a:ext cx="9384757" cy="1974879"/>
          </a:xfrm>
          <a:custGeom>
            <a:avLst/>
            <a:gdLst/>
            <a:ahLst/>
            <a:cxnLst/>
            <a:rect r="r" b="b" t="t" l="l"/>
            <a:pathLst>
              <a:path h="1974879" w="9384757">
                <a:moveTo>
                  <a:pt x="0" y="0"/>
                </a:moveTo>
                <a:lnTo>
                  <a:pt x="9384757" y="0"/>
                </a:lnTo>
                <a:lnTo>
                  <a:pt x="9384757" y="1974880"/>
                </a:lnTo>
                <a:lnTo>
                  <a:pt x="0" y="1974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indow Functions- Top Performing Peak Month per City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ROW_NUMBER() OVER()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Assigns a unique sequential integer to rows within a partition, ignoring ties.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Pinpoints exact peak travel periods, such as September 2022 for Bangkok (281k tourists).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887036" y="3770662"/>
            <a:ext cx="4972280" cy="1579592"/>
          </a:xfrm>
          <a:custGeom>
            <a:avLst/>
            <a:gdLst/>
            <a:ahLst/>
            <a:cxnLst/>
            <a:rect r="r" b="b" t="t" l="l"/>
            <a:pathLst>
              <a:path h="1579592" w="4972280">
                <a:moveTo>
                  <a:pt x="0" y="0"/>
                </a:moveTo>
                <a:lnTo>
                  <a:pt x="4972280" y="0"/>
                </a:lnTo>
                <a:lnTo>
                  <a:pt x="4972280" y="1579591"/>
                </a:lnTo>
                <a:lnTo>
                  <a:pt x="0" y="1579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9700" y="3770662"/>
            <a:ext cx="8687981" cy="2568426"/>
          </a:xfrm>
          <a:custGeom>
            <a:avLst/>
            <a:gdLst/>
            <a:ahLst/>
            <a:cxnLst/>
            <a:rect r="r" b="b" t="t" l="l"/>
            <a:pathLst>
              <a:path h="2568426" w="8687981">
                <a:moveTo>
                  <a:pt x="0" y="0"/>
                </a:moveTo>
                <a:lnTo>
                  <a:pt x="8687981" y="0"/>
                </a:lnTo>
                <a:lnTo>
                  <a:pt x="8687981" y="2568426"/>
                </a:lnTo>
                <a:lnTo>
                  <a:pt x="0" y="2568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indow Functions - Month-over-Month Tourist Change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LAG() Analytic Window Function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Accesses data from a preceding row in the same result set without using a self-join.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Tracks period-over-period visitor changes to highlight seasonal growth and decline trends.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9065546" cy="2693896"/>
          </a:xfrm>
          <a:custGeom>
            <a:avLst/>
            <a:gdLst/>
            <a:ahLst/>
            <a:cxnLst/>
            <a:rect r="r" b="b" t="t" l="l"/>
            <a:pathLst>
              <a:path h="2693896" w="9065546">
                <a:moveTo>
                  <a:pt x="0" y="0"/>
                </a:moveTo>
                <a:lnTo>
                  <a:pt x="9065546" y="0"/>
                </a:lnTo>
                <a:lnTo>
                  <a:pt x="9065546" y="2693896"/>
                </a:lnTo>
                <a:lnTo>
                  <a:pt x="0" y="2693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45242"/>
            <a:ext cx="5020254" cy="1341929"/>
          </a:xfrm>
          <a:custGeom>
            <a:avLst/>
            <a:gdLst/>
            <a:ahLst/>
            <a:cxnLst/>
            <a:rect r="r" b="b" t="t" l="l"/>
            <a:pathLst>
              <a:path h="1341929" w="5020254">
                <a:moveTo>
                  <a:pt x="0" y="0"/>
                </a:moveTo>
                <a:lnTo>
                  <a:pt x="5020254" y="0"/>
                </a:lnTo>
                <a:lnTo>
                  <a:pt x="5020254" y="1341930"/>
                </a:lnTo>
                <a:lnTo>
                  <a:pt x="0" y="134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Window Functions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Cumulative Country Revenue Aggregation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Window Aggregate SUM() OVER()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Computes a summary aggregate across a partition while retaining detailed row level records.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Displays city-level revenue alongside total national tourism revenue ($9.53M for Australia).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915854"/>
            <a:ext cx="9511971" cy="1819022"/>
          </a:xfrm>
          <a:custGeom>
            <a:avLst/>
            <a:gdLst/>
            <a:ahLst/>
            <a:cxnLst/>
            <a:rect r="r" b="b" t="t" l="l"/>
            <a:pathLst>
              <a:path h="1819022" w="9511971">
                <a:moveTo>
                  <a:pt x="0" y="0"/>
                </a:moveTo>
                <a:lnTo>
                  <a:pt x="9511971" y="0"/>
                </a:lnTo>
                <a:lnTo>
                  <a:pt x="9511971" y="1819022"/>
                </a:lnTo>
                <a:lnTo>
                  <a:pt x="0" y="1819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840480"/>
            <a:ext cx="5122768" cy="1936029"/>
          </a:xfrm>
          <a:custGeom>
            <a:avLst/>
            <a:gdLst/>
            <a:ahLst/>
            <a:cxnLst/>
            <a:rect r="r" b="b" t="t" l="l"/>
            <a:pathLst>
              <a:path h="1936029" w="5122768">
                <a:moveTo>
                  <a:pt x="0" y="0"/>
                </a:moveTo>
                <a:lnTo>
                  <a:pt x="5122768" y="0"/>
                </a:lnTo>
                <a:lnTo>
                  <a:pt x="5122768" y="1936029"/>
                </a:lnTo>
                <a:lnTo>
                  <a:pt x="0" y="1936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Window Functions 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City Percentage Contribution to Country Revenue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Proportional Calculation with Window Sum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Divides individual group metrics by window partition totals to derive percentage contributions.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Rio de Janeiro generates 55.5% of Brazil's total national tourism revenue.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730942"/>
            <a:ext cx="9391152" cy="2274164"/>
          </a:xfrm>
          <a:custGeom>
            <a:avLst/>
            <a:gdLst/>
            <a:ahLst/>
            <a:cxnLst/>
            <a:rect r="r" b="b" t="t" l="l"/>
            <a:pathLst>
              <a:path h="2274164" w="9391152">
                <a:moveTo>
                  <a:pt x="0" y="0"/>
                </a:moveTo>
                <a:lnTo>
                  <a:pt x="9391152" y="0"/>
                </a:lnTo>
                <a:lnTo>
                  <a:pt x="9391152" y="2274164"/>
                </a:lnTo>
                <a:lnTo>
                  <a:pt x="0" y="2274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43472"/>
            <a:ext cx="4197259" cy="4135535"/>
          </a:xfrm>
          <a:custGeom>
            <a:avLst/>
            <a:gdLst/>
            <a:ahLst/>
            <a:cxnLst/>
            <a:rect r="r" b="b" t="t" l="l"/>
            <a:pathLst>
              <a:path h="4135535" w="4197259">
                <a:moveTo>
                  <a:pt x="0" y="0"/>
                </a:moveTo>
                <a:lnTo>
                  <a:pt x="4197259" y="0"/>
                </a:lnTo>
                <a:lnTo>
                  <a:pt x="4197259" y="4135535"/>
                </a:lnTo>
                <a:lnTo>
                  <a:pt x="0" y="4135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 Oper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ations, String &amp; Date Functions - Combining Top Cities Sets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UNION Operator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Combines result sets from multiple queries and removes duplicate records.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Beijing, Johannesburg, Luxor, and Manchester lead in both visitor volume and overall revenue.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845242"/>
            <a:ext cx="9208239" cy="1666834"/>
          </a:xfrm>
          <a:custGeom>
            <a:avLst/>
            <a:gdLst/>
            <a:ahLst/>
            <a:cxnLst/>
            <a:rect r="r" b="b" t="t" l="l"/>
            <a:pathLst>
              <a:path h="1666834" w="9208239">
                <a:moveTo>
                  <a:pt x="0" y="0"/>
                </a:moveTo>
                <a:lnTo>
                  <a:pt x="9208239" y="0"/>
                </a:lnTo>
                <a:lnTo>
                  <a:pt x="9208239" y="1666834"/>
                </a:lnTo>
                <a:lnTo>
                  <a:pt x="0" y="1666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681131"/>
            <a:ext cx="4459271" cy="2239545"/>
          </a:xfrm>
          <a:custGeom>
            <a:avLst/>
            <a:gdLst/>
            <a:ahLst/>
            <a:cxnLst/>
            <a:rect r="r" b="b" t="t" l="l"/>
            <a:pathLst>
              <a:path h="2239545" w="4459271">
                <a:moveTo>
                  <a:pt x="0" y="0"/>
                </a:moveTo>
                <a:lnTo>
                  <a:pt x="4459271" y="0"/>
                </a:lnTo>
                <a:lnTo>
                  <a:pt x="4459271" y="2239545"/>
                </a:lnTo>
                <a:lnTo>
                  <a:pt x="0" y="2239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 Oper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ations, String &amp; Date Functions - Formatted Geographic Label String Creation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String Formatting (UPPER &amp; CONCAT)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Converts strings to uppercase and concatenates columns for standardized text formatting.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9225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Standardizes location identifiers for consistent display across reporting tools and dashboards.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05000" y="1881188"/>
            <a:ext cx="14478000" cy="0"/>
          </a:xfrm>
          <a:prstGeom prst="line">
            <a:avLst/>
          </a:prstGeom>
          <a:ln cap="flat" w="9525">
            <a:solidFill>
              <a:srgbClr val="99F6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3067050"/>
            <a:ext cx="10096500" cy="5335653"/>
            <a:chOff x="0" y="0"/>
            <a:chExt cx="13462000" cy="7114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13462000">
                  <a:moveTo>
                    <a:pt x="431800" y="0"/>
                  </a:moveTo>
                  <a:lnTo>
                    <a:pt x="13030200" y="0"/>
                  </a:lnTo>
                  <a:cubicBezTo>
                    <a:pt x="13268677" y="0"/>
                    <a:pt x="13462000" y="318514"/>
                    <a:pt x="13462000" y="711420"/>
                  </a:cubicBezTo>
                  <a:lnTo>
                    <a:pt x="13462000" y="6402783"/>
                  </a:lnTo>
                  <a:cubicBezTo>
                    <a:pt x="13462000" y="6795690"/>
                    <a:pt x="13268677" y="7114204"/>
                    <a:pt x="13030200" y="7114204"/>
                  </a:cubicBezTo>
                  <a:lnTo>
                    <a:pt x="431800" y="7114204"/>
                  </a:lnTo>
                  <a:cubicBezTo>
                    <a:pt x="193323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09700" y="3535680"/>
            <a:ext cx="95631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620500" y="3067050"/>
            <a:ext cx="5638800" cy="5335653"/>
            <a:chOff x="0" y="0"/>
            <a:chExt cx="7518400" cy="7114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8400" cy="7114204"/>
            </a:xfrm>
            <a:custGeom>
              <a:avLst/>
              <a:gdLst/>
              <a:ahLst/>
              <a:cxnLst/>
              <a:rect r="r" b="b" t="t" l="l"/>
              <a:pathLst>
                <a:path h="7114204" w="7518400">
                  <a:moveTo>
                    <a:pt x="375920" y="0"/>
                  </a:moveTo>
                  <a:lnTo>
                    <a:pt x="7142480" y="0"/>
                  </a:lnTo>
                  <a:cubicBezTo>
                    <a:pt x="7350096" y="0"/>
                    <a:pt x="7518400" y="318514"/>
                    <a:pt x="7518400" y="711420"/>
                  </a:cubicBezTo>
                  <a:lnTo>
                    <a:pt x="7518400" y="6402783"/>
                  </a:lnTo>
                  <a:cubicBezTo>
                    <a:pt x="7518400" y="6795690"/>
                    <a:pt x="7350096" y="7114204"/>
                    <a:pt x="7142480" y="7114204"/>
                  </a:cubicBezTo>
                  <a:lnTo>
                    <a:pt x="375920" y="7114204"/>
                  </a:lnTo>
                  <a:cubicBezTo>
                    <a:pt x="168305" y="7114204"/>
                    <a:pt x="0" y="6795690"/>
                    <a:pt x="0" y="6402783"/>
                  </a:cubicBezTo>
                  <a:lnTo>
                    <a:pt x="0" y="711420"/>
                  </a:lnTo>
                  <a:cubicBezTo>
                    <a:pt x="0" y="318514"/>
                    <a:pt x="168305" y="0"/>
                    <a:pt x="3759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8400" cy="715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1887036" y="3524250"/>
            <a:ext cx="5943764" cy="6667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3000" y="8717280"/>
            <a:ext cx="16002000" cy="952500"/>
            <a:chOff x="0" y="0"/>
            <a:chExt cx="21336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127000" y="0"/>
                  </a:moveTo>
                  <a:lnTo>
                    <a:pt x="21209000" y="0"/>
                  </a:lnTo>
                  <a:cubicBezTo>
                    <a:pt x="21279140" y="0"/>
                    <a:pt x="21336000" y="56860"/>
                    <a:pt x="21336000" y="127000"/>
                  </a:cubicBezTo>
                  <a:lnTo>
                    <a:pt x="21336000" y="1143000"/>
                  </a:lnTo>
                  <a:cubicBezTo>
                    <a:pt x="21336000" y="1213140"/>
                    <a:pt x="21279140" y="1270000"/>
                    <a:pt x="21209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F6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9700" y="3645217"/>
            <a:ext cx="5470932" cy="3945579"/>
          </a:xfrm>
          <a:custGeom>
            <a:avLst/>
            <a:gdLst/>
            <a:ahLst/>
            <a:cxnLst/>
            <a:rect r="r" b="b" t="t" l="l"/>
            <a:pathLst>
              <a:path h="3945579" w="5470932">
                <a:moveTo>
                  <a:pt x="0" y="0"/>
                </a:moveTo>
                <a:lnTo>
                  <a:pt x="5470932" y="0"/>
                </a:lnTo>
                <a:lnTo>
                  <a:pt x="5470932" y="3945580"/>
                </a:lnTo>
                <a:lnTo>
                  <a:pt x="0" y="3945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036" y="3726180"/>
            <a:ext cx="5020396" cy="2772893"/>
          </a:xfrm>
          <a:custGeom>
            <a:avLst/>
            <a:gdLst/>
            <a:ahLst/>
            <a:cxnLst/>
            <a:rect r="r" b="b" t="t" l="l"/>
            <a:pathLst>
              <a:path h="2772893" w="5020396">
                <a:moveTo>
                  <a:pt x="0" y="0"/>
                </a:moveTo>
                <a:lnTo>
                  <a:pt x="5020396" y="0"/>
                </a:lnTo>
                <a:lnTo>
                  <a:pt x="5020396" y="2772893"/>
                </a:lnTo>
                <a:lnTo>
                  <a:pt x="0" y="277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29000" y="247650"/>
            <a:ext cx="11430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 Oper</a:t>
            </a:r>
            <a:r>
              <a:rPr lang="en-US" sz="4400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ations, String &amp; Date Functions - Quarterly Visitor Volume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038350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34E4A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1800">
                <a:solidFill>
                  <a:srgbClr val="134E4A"/>
                </a:solidFill>
                <a:latin typeface="Inter"/>
                <a:ea typeface="Inter"/>
                <a:cs typeface="Inter"/>
                <a:sym typeface="Inter"/>
              </a:rPr>
              <a:t> Date Bucket Aggregation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409825"/>
            <a:ext cx="16002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159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Groups monthly numerical records into calendar quarters (Q1–Q4) for seasonal evaluation.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9071610"/>
            <a:ext cx="154686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170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Global tourist volume peaks in Q1 and Q3 (~16.3M visitors) and drops to its lowest level in Q4 (14.08M visitors).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" y="3271203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SQL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7036" y="3216910"/>
            <a:ext cx="1905000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4000" y="304800"/>
            <a:ext cx="152400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7"/>
              </a:lnSpc>
              <a:spcBef>
                <a:spcPct val="0"/>
              </a:spcBef>
            </a:pPr>
            <a:r>
              <a:rPr lang="en-US" sz="3622" strike="noStrike" u="none">
                <a:solidFill>
                  <a:srgbClr val="0D7377"/>
                </a:solidFill>
                <a:latin typeface="Poppins"/>
                <a:ea typeface="Poppins"/>
                <a:cs typeface="Poppins"/>
                <a:sym typeface="Poppins"/>
              </a:rPr>
              <a:t>All Concepts at a Glance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81000" y="952500"/>
            <a:ext cx="17526000" cy="342900"/>
            <a:chOff x="0" y="0"/>
            <a:chExt cx="23368000" cy="45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6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368000">
                  <a:moveTo>
                    <a:pt x="45720" y="0"/>
                  </a:moveTo>
                  <a:lnTo>
                    <a:pt x="23322280" y="0"/>
                  </a:lnTo>
                  <a:cubicBezTo>
                    <a:pt x="23347530" y="0"/>
                    <a:pt x="23368000" y="20470"/>
                    <a:pt x="23368000" y="45720"/>
                  </a:cubicBezTo>
                  <a:lnTo>
                    <a:pt x="23368000" y="411480"/>
                  </a:lnTo>
                  <a:cubicBezTo>
                    <a:pt x="23368000" y="436730"/>
                    <a:pt x="23347530" y="457200"/>
                    <a:pt x="233222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3680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6250" y="1019175"/>
            <a:ext cx="16192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90750" y="1019175"/>
            <a:ext cx="9906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Mini-Snippet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0" y="1019175"/>
            <a:ext cx="5715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Summary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81000" y="1295400"/>
            <a:ext cx="17526000" cy="695325"/>
            <a:chOff x="0" y="0"/>
            <a:chExt cx="23368000" cy="927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1000" y="1990725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76250" y="1524000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SELECT / WHERE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0750" y="1552575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country, city FROM tourism_stats WHERE Country = 'France';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0" y="1533525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Filters rows and returns only matching records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81000" y="1990725"/>
            <a:ext cx="17526000" cy="695325"/>
            <a:chOff x="0" y="0"/>
            <a:chExt cx="23368000" cy="927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0F8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381000" y="2686050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476250" y="2219325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 / LIMIT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0750" y="2247900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* FROM tourism_stats ORDER BY Tourism_Revenue_USD DESC LIMIT 5;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0" y="2228850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Shows the top 5 rows by revenue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81000" y="2686050"/>
            <a:ext cx="17526000" cy="695325"/>
            <a:chOff x="0" y="0"/>
            <a:chExt cx="23368000" cy="927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381000" y="3381375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476250" y="2914650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Aggregates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90750" y="2943225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SUM(Tourism_Revenue_USD), AVG(Avg_Satisfaction_Score) FROM tourism_stats;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0" y="2924175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Returns totals and averages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81000" y="3381375"/>
            <a:ext cx="17526000" cy="695325"/>
            <a:chOff x="0" y="0"/>
            <a:chExt cx="23368000" cy="927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0F8F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381000" y="4076700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476250" y="3609975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 / HAVING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90750" y="3638550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City, COUNT(*) FROM tourism_stats GROUP BY City HAVING COUNT(*) &gt; 1;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2000" y="3619500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Groups rows and filters groups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81000" y="4076700"/>
            <a:ext cx="17526000" cy="695325"/>
            <a:chOff x="0" y="0"/>
            <a:chExt cx="23368000" cy="927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381000" y="4772025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476250" y="4305300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CASE WHEN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190750" y="4333875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City, CASE WHEN Occupancy_Rate &gt;= 80 THEN 'High' ELSE 'Low' END AS Occupancy_Level FROM hospitality_stats;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92000" y="4314825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Creates conditional labels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81000" y="4772025"/>
            <a:ext cx="17526000" cy="695325"/>
            <a:chOff x="0" y="0"/>
            <a:chExt cx="23368000" cy="927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0F8FA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381000" y="5467350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476250" y="5000625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INNER JOIN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190750" y="5029200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* FROM tourism_stats t INNER JOIN hospitality_stats h ON t.Record_ID = h.Record_ID;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92000" y="5010150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Keeps only matching rows from both tables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381000" y="5467350"/>
            <a:ext cx="17526000" cy="695325"/>
            <a:chOff x="0" y="0"/>
            <a:chExt cx="23368000" cy="9271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4" id="54"/>
          <p:cNvSpPr/>
          <p:nvPr/>
        </p:nvSpPr>
        <p:spPr>
          <a:xfrm>
            <a:off x="381000" y="6162675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476250" y="5695950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LEFT JOIN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190750" y="5724525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* FROM tourism_stats t LEFT JOIN hospitality_stats h ON t.Record_ID = h.Record_ID;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192000" y="5705475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Keeps all left-table rows, NULLs for missing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81000" y="6162675"/>
            <a:ext cx="17526000" cy="695325"/>
            <a:chOff x="0" y="0"/>
            <a:chExt cx="23368000" cy="9271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0F8FA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1" id="61"/>
          <p:cNvSpPr/>
          <p:nvPr/>
        </p:nvSpPr>
        <p:spPr>
          <a:xfrm>
            <a:off x="381000" y="6858000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476250" y="6391275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Subquery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190750" y="6419850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* FROM tourism_stats WHERE Tourism_Revenue_USD &gt; (SELECT AVG(Tourism_Revenue_USD) FROM tourism_stats);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92000" y="6400800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Filters using a computed threshold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381000" y="6858000"/>
            <a:ext cx="17526000" cy="695325"/>
            <a:chOff x="0" y="0"/>
            <a:chExt cx="23368000" cy="9271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8" id="68"/>
          <p:cNvSpPr/>
          <p:nvPr/>
        </p:nvSpPr>
        <p:spPr>
          <a:xfrm>
            <a:off x="381000" y="7553325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476250" y="7086600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CTE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190750" y="7115175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city_totals AS (SELECT City, SUM(Tourism_Revenue_USD) AS total FROM tourism_stats GROUP BY City) SELECT * FROM city_totals;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192000" y="7096125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Breaks complex logic into a named step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381000" y="7553325"/>
            <a:ext cx="17526000" cy="695325"/>
            <a:chOff x="0" y="0"/>
            <a:chExt cx="23368000" cy="9271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0F8FA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5" id="75"/>
          <p:cNvSpPr/>
          <p:nvPr/>
        </p:nvSpPr>
        <p:spPr>
          <a:xfrm>
            <a:off x="381000" y="8248650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6" id="76"/>
          <p:cNvSpPr txBox="true"/>
          <p:nvPr/>
        </p:nvSpPr>
        <p:spPr>
          <a:xfrm rot="0">
            <a:off x="476250" y="7781925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Window Function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190750" y="7810500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City, Tourism_Revenue_USD, RANK() OVER (PARTITION BY City ORDER BY Tourism_Revenue_USD DESC) AS rank FROM tourism_stats;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192000" y="7791450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Adds rank without collapsing rows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381000" y="8248650"/>
            <a:ext cx="17526000" cy="695325"/>
            <a:chOff x="0" y="0"/>
            <a:chExt cx="23368000" cy="9271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368000" cy="927100"/>
            </a:xfrm>
            <a:custGeom>
              <a:avLst/>
              <a:gdLst/>
              <a:ahLst/>
              <a:cxnLst/>
              <a:rect r="r" b="b" t="t" l="l"/>
              <a:pathLst>
                <a:path h="9271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33680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2" id="82"/>
          <p:cNvSpPr/>
          <p:nvPr/>
        </p:nvSpPr>
        <p:spPr>
          <a:xfrm>
            <a:off x="381000" y="8943975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476250" y="8477250"/>
            <a:ext cx="15811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b="true" sz="1200">
                <a:solidFill>
                  <a:srgbClr val="0D7377"/>
                </a:solidFill>
                <a:latin typeface="Poppins Bold"/>
                <a:ea typeface="Poppins Bold"/>
                <a:cs typeface="Poppins Bold"/>
                <a:sym typeface="Poppins Bold"/>
              </a:rPr>
              <a:t>UNION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190750" y="8505825"/>
            <a:ext cx="9867900" cy="1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99">
                <a:solidFill>
                  <a:srgbClr val="1A2A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Country FROM tourism_stats UNION SELECT City FROM hospitality_stats;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192000" y="8486775"/>
            <a:ext cx="56769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1A2A3A"/>
                </a:solidFill>
                <a:latin typeface="Montserrat"/>
                <a:ea typeface="Montserrat"/>
                <a:cs typeface="Montserrat"/>
                <a:sym typeface="Montserrat"/>
              </a:rPr>
              <a:t>Combines distinct rows from multiple queries</a:t>
            </a:r>
          </a:p>
        </p:txBody>
      </p:sp>
      <p:sp>
        <p:nvSpPr>
          <p:cNvPr name="AutoShape 86" id="86"/>
          <p:cNvSpPr/>
          <p:nvPr/>
        </p:nvSpPr>
        <p:spPr>
          <a:xfrm>
            <a:off x="381000" y="9639300"/>
            <a:ext cx="17526000" cy="0"/>
          </a:xfrm>
          <a:prstGeom prst="line">
            <a:avLst/>
          </a:prstGeom>
          <a:ln cap="flat" w="9525">
            <a:solidFill>
              <a:srgbClr val="B0BEC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DAHRiLsUbtE</dc:identifier>
  <dcterms:modified xsi:type="dcterms:W3CDTF">2011-08-01T06:04:30Z</dcterms:modified>
  <cp:revision>1</cp:revision>
  <dc:title>Copy of SQL Concepts in Action: Tourism &amp; Hospitality</dc:title>
</cp:coreProperties>
</file>